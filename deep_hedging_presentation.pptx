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6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7" Type="http://schemas.openxmlformats.org/officeDocument/2006/relationships/notesSlide" Target="../notesSlides/notesSlide7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27.xml"/><Relationship Id="rId14" Type="http://schemas.openxmlformats.org/officeDocument/2006/relationships/tags" Target="../tags/tag26.xml"/><Relationship Id="rId13" Type="http://schemas.openxmlformats.org/officeDocument/2006/relationships/tags" Target="../tags/tag25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4" Type="http://schemas.openxmlformats.org/officeDocument/2006/relationships/notesSlide" Target="../notesSlides/notesSlide9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39.xml"/><Relationship Id="rId11" Type="http://schemas.openxmlformats.org/officeDocument/2006/relationships/tags" Target="../tags/tag38.xml"/><Relationship Id="rId10" Type="http://schemas.openxmlformats.org/officeDocument/2006/relationships/tags" Target="../tags/tag37.xml"/><Relationship Id="rId1" Type="http://schemas.openxmlformats.org/officeDocument/2006/relationships/tags" Target="../tags/tag2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60120"/>
            <a:ext cx="77724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 Hedging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77724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A8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Optimal Hedging Under Market Frictions</a:t>
            </a:r>
            <a:endParaRPr lang="en-US" sz="2400" dirty="0"/>
          </a:p>
          <a:p>
            <a:pPr marL="0" indent="0">
              <a:buNone/>
            </a:pPr>
            <a:r>
              <a:rPr lang="en-US" sz="2400" i="1" dirty="0">
                <a:solidFill>
                  <a:srgbClr val="A8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Using Deep Reinforcement Learning</a:t>
            </a:r>
            <a:endParaRPr lang="en-US" sz="2400" i="1" dirty="0">
              <a:solidFill>
                <a:srgbClr val="A8C8F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907792"/>
            <a:ext cx="7863840" cy="0"/>
          </a:xfrm>
          <a:prstGeom prst="line">
            <a:avLst/>
          </a:prstGeom>
          <a:noFill/>
          <a:ln w="19050">
            <a:solidFill>
              <a:srgbClr val="5B9B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035808"/>
            <a:ext cx="7772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AAD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Buehler, Gonon, Teichmann &amp; Wood  ·  Quantitative Finance 19(8), 2019</a:t>
            </a:r>
            <a:endParaRPr lang="en-US" sz="1400" dirty="0">
              <a:solidFill>
                <a:srgbClr val="7AAAD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3401568"/>
            <a:ext cx="7772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AAD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Presented by: Zongyu Mu  ·  MA529/DS595: Stochastic Processes for Generative Deep Learning</a:t>
            </a:r>
            <a:endParaRPr lang="en-US" sz="1400" dirty="0">
              <a:solidFill>
                <a:srgbClr val="7AAAD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3794760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AAD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April 2026</a:t>
            </a:r>
            <a:endParaRPr lang="en-US" sz="1400" dirty="0">
              <a:solidFill>
                <a:srgbClr val="7AAAD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Problem: Hedging in Reality vs. Theory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41248"/>
            <a:ext cx="8321040" cy="36576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3931920" cy="3383280"/>
          </a:xfrm>
          <a:prstGeom prst="rect">
            <a:avLst/>
          </a:prstGeom>
          <a:solidFill>
            <a:srgbClr val="EBF3FB"/>
          </a:solidFill>
          <a:ln w="12700">
            <a:solidFill>
              <a:srgbClr val="CCE0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6DA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📖  Textbook Theory</a:t>
            </a:r>
            <a:endParaRPr lang="en-US" sz="2000" b="1" dirty="0">
              <a:solidFill>
                <a:srgbClr val="2E6DA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4360" y="1536192"/>
            <a:ext cx="3566160" cy="2743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Continuous trading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transaction costs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Perfect liquidity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Frictionless markets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Unique replication price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Delta hedge = optimal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Pricing is linear</a:t>
            </a:r>
            <a:endParaRPr lang="en-US" dirty="0">
              <a:solidFill>
                <a:srgbClr val="2C3E5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00600" y="1005840"/>
            <a:ext cx="3931920" cy="3383280"/>
          </a:xfrm>
          <a:prstGeom prst="rect">
            <a:avLst/>
          </a:prstGeom>
          <a:solidFill>
            <a:srgbClr val="FDF2F2"/>
          </a:solidFill>
          <a:ln w="12700">
            <a:solidFill>
              <a:srgbClr val="F0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097280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  Real Markets</a:t>
            </a:r>
            <a:endParaRPr lang="en-US" sz="2000" b="1" dirty="0">
              <a:solidFill>
                <a:srgbClr val="C039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983480" y="1536192"/>
            <a:ext cx="3566160" cy="2743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Discrete-time trading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Transaction costs &amp; spreads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Liquidity constraints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Market impact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 &amp; capital limits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Strategy depends on book composition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Pricing is non-linear</a:t>
            </a:r>
            <a:endParaRPr lang="en-US" dirty="0">
              <a:solidFill>
                <a:srgbClr val="2C3E5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343400" y="2651760"/>
            <a:ext cx="457200" cy="0"/>
          </a:xfrm>
          <a:prstGeom prst="line">
            <a:avLst/>
          </a:prstGeom>
          <a:noFill/>
          <a:ln w="25400">
            <a:solidFill>
              <a:srgbClr val="8A9A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15968" y="2377440"/>
            <a:ext cx="512064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≠</a:t>
            </a:r>
            <a:endParaRPr lang="en-US" sz="4000" b="1" dirty="0">
              <a:solidFill>
                <a:srgbClr val="C039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 Hedging: Core Idea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41248"/>
            <a:ext cx="8321040" cy="36576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60120"/>
            <a:ext cx="8321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Replace the classical pipeline with a model-free, learning-based approach:</a:t>
            </a:r>
            <a:endParaRPr lang="en-US" sz="2000" i="1" dirty="0">
              <a:solidFill>
                <a:srgbClr val="2C3E5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48590" y="1417320"/>
            <a:ext cx="1737360" cy="1463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1742" y="1508760"/>
            <a:ext cx="1591056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Market Scenario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Generator</a:t>
            </a:r>
            <a:endParaRPr lang="en-US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10312" y="2240280"/>
            <a:ext cx="1591056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1742" y="2296287"/>
            <a:ext cx="1591056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0E8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Sample paths of hedging instruments S(ω)</a:t>
            </a:r>
            <a:endParaRPr lang="en-US" sz="1200" dirty="0">
              <a:solidFill>
                <a:srgbClr val="D0E8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897380" y="1920240"/>
            <a:ext cx="65836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555748" y="1417320"/>
            <a:ext cx="1737360" cy="146304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28900" y="1508760"/>
            <a:ext cx="1591056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Neural Network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Strategy  δθ</a:t>
            </a:r>
            <a:endParaRPr lang="en-US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480310" y="2240280"/>
            <a:ext cx="1591056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28900" y="2313432"/>
            <a:ext cx="1591056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0E8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Semi-recurrent net: δk = Fθk(I₀,…,Ik, δk₋₁)</a:t>
            </a:r>
            <a:endParaRPr lang="en-US" sz="1200" dirty="0">
              <a:solidFill>
                <a:srgbClr val="D0E8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321683" y="1920240"/>
            <a:ext cx="65836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002911" y="1417320"/>
            <a:ext cx="1737360" cy="146304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76063" y="1508760"/>
            <a:ext cx="1591056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Convex Risk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Measure  ρ</a:t>
            </a:r>
            <a:endParaRPr lang="en-US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087493" y="2240280"/>
            <a:ext cx="1591056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6063" y="2313432"/>
            <a:ext cx="1591056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0E8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CVaR, Entropic, OCE</a:t>
            </a:r>
            <a:endParaRPr lang="en-US" sz="1200" dirty="0">
              <a:solidFill>
                <a:srgbClr val="D0E8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734556" y="1920240"/>
            <a:ext cx="65836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347204" y="1417320"/>
            <a:ext cx="1737360" cy="14630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20356" y="1508760"/>
            <a:ext cx="1591056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Optimal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Parameters  θ*</a:t>
            </a:r>
            <a:endParaRPr lang="en-US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426071" y="2240280"/>
            <a:ext cx="1591056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20356" y="2313432"/>
            <a:ext cx="1591056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0E8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Via mini-batch SGD + Adam</a:t>
            </a:r>
            <a:endParaRPr lang="en-US" sz="1200" dirty="0">
              <a:solidFill>
                <a:srgbClr val="D0E8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11480" y="306324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advantages:</a:t>
            </a:r>
            <a:endParaRPr lang="en-US" b="1" dirty="0">
              <a:solidFill>
                <a:srgbClr val="1E3A5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11480" y="3401568"/>
            <a:ext cx="2011680" cy="1508760"/>
          </a:xfrm>
          <a:prstGeom prst="rect">
            <a:avLst/>
          </a:prstGeom>
          <a:solidFill>
            <a:srgbClr val="E8EEF5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3401568"/>
            <a:ext cx="201168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493008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Model-free</a:t>
            </a:r>
            <a:endParaRPr lang="en-US" sz="2000" b="1" dirty="0">
              <a:solidFill>
                <a:srgbClr val="1E3A5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02920" y="3840480"/>
            <a:ext cx="18288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equivalent martingale measure needed</a:t>
            </a:r>
            <a:endParaRPr lang="en-US" sz="1600" dirty="0">
              <a:solidFill>
                <a:srgbClr val="2C3E5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624328" y="3401568"/>
            <a:ext cx="2011680" cy="1508760"/>
          </a:xfrm>
          <a:prstGeom prst="rect">
            <a:avLst/>
          </a:prstGeom>
          <a:solidFill>
            <a:srgbClr val="E8EEF5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24328" y="3401568"/>
            <a:ext cx="201168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15768" y="3493008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Greek-free</a:t>
            </a:r>
            <a:endParaRPr lang="en-US" sz="2000" b="1" dirty="0">
              <a:solidFill>
                <a:srgbClr val="1E3A5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2715768" y="3840480"/>
            <a:ext cx="18288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derivative pricing formulas</a:t>
            </a:r>
            <a:endParaRPr lang="en-US" dirty="0">
              <a:solidFill>
                <a:srgbClr val="2C3E5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837176" y="3401568"/>
            <a:ext cx="2011680" cy="1508760"/>
          </a:xfrm>
          <a:prstGeom prst="rect">
            <a:avLst/>
          </a:prstGeom>
          <a:solidFill>
            <a:srgbClr val="E8EEF5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37176" y="3401568"/>
            <a:ext cx="201168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28616" y="3493008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Scalable</a:t>
            </a:r>
            <a:endParaRPr lang="en-US" sz="2000" b="1" dirty="0">
              <a:solidFill>
                <a:srgbClr val="1E3A5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928616" y="3840480"/>
            <a:ext cx="18288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Efficient in high dimensions</a:t>
            </a:r>
            <a:endParaRPr lang="en-US" dirty="0">
              <a:solidFill>
                <a:srgbClr val="2C3E5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7050024" y="3401568"/>
            <a:ext cx="2011680" cy="1508760"/>
          </a:xfrm>
          <a:prstGeom prst="rect">
            <a:avLst/>
          </a:prstGeom>
          <a:solidFill>
            <a:srgbClr val="E8EEF5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050024" y="3401568"/>
            <a:ext cx="201168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41464" y="3493008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General</a:t>
            </a:r>
            <a:endParaRPr lang="en-US" sz="2000" b="1" dirty="0">
              <a:solidFill>
                <a:srgbClr val="1E3A5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141464" y="3840480"/>
            <a:ext cx="18288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 convex risk measure</a:t>
            </a:r>
            <a:endParaRPr lang="en-US" dirty="0">
              <a:solidFill>
                <a:srgbClr val="2C3E5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Mathematical Setup: Market &amp; Hedging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41248"/>
            <a:ext cx="8321040" cy="36576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4023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05840"/>
            <a:ext cx="64008" cy="1920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097280"/>
            <a:ext cx="3794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Discrete-Time Market</a:t>
            </a:r>
            <a:endParaRPr lang="en-US" b="1" dirty="0">
              <a:solidFill>
                <a:srgbClr val="1E3A5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76072" y="1444752"/>
            <a:ext cx="3794760" cy="13898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Finite probability space Ω = {ω₁, …, ωN}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Trading dates 0 = t₀ &lt; t₁ &lt; … &lt; tₙ = 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Market info Iₖ generates filtration F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 hedging instruments with mid-prices 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martingale measure required</a:t>
            </a:r>
            <a:endParaRPr lang="en-US" sz="1600" dirty="0">
              <a:solidFill>
                <a:srgbClr val="2C3E5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617720" y="1005840"/>
            <a:ext cx="4023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005840"/>
            <a:ext cx="64008" cy="192024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82312" y="1097280"/>
            <a:ext cx="3794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6DA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Trading Strategy &amp; Costs</a:t>
            </a:r>
            <a:endParaRPr lang="en-US" b="1" dirty="0">
              <a:solidFill>
                <a:srgbClr val="2E6DA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82312" y="1444752"/>
            <a:ext cx="3794760" cy="13898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δ = (δₖ): F-adapted, δₖ ∈ ℝᵈ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Subject to liquidity constraints Hₖ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Cost of rebalancing: CT(δ) = Σ cₖ(δₖ − δₖ₋₁)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Proportional: cₖ(n) = ε · Σ |nⁱ| · Sᵢₖ</a:t>
            </a:r>
            <a:endParaRPr lang="en-US" sz="1600" dirty="0">
              <a:solidFill>
                <a:srgbClr val="2C3E5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11480" y="3063240"/>
            <a:ext cx="822960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154680"/>
            <a:ext cx="2011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Terminal P&amp;L: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744980" y="3145790"/>
            <a:ext cx="67132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PLT(Z, p₀, δ)  =  −Z  +  p₀  +  (δ · S)T  −  CT(δ)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0530" y="3511550"/>
            <a:ext cx="8027670" cy="29273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8AAA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Liability           Initial cash      Trading gains      Transaction costs</a:t>
            </a:r>
            <a:endParaRPr lang="en-US" dirty="0">
              <a:solidFill>
                <a:srgbClr val="8AAAC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11480" y="4142105"/>
            <a:ext cx="8229600" cy="871855"/>
          </a:xfrm>
          <a:prstGeom prst="rect">
            <a:avLst/>
          </a:prstGeom>
          <a:solidFill>
            <a:srgbClr val="EBF3FB"/>
          </a:solidFill>
          <a:ln w="12700">
            <a:solidFill>
              <a:srgbClr val="CCE0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243070"/>
            <a:ext cx="6969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Indifference price:  p(Z) = π(−Z) − π(0)</a:t>
            </a:r>
            <a:endParaRPr lang="en-US" sz="2000" dirty="0">
              <a:solidFill>
                <a:schemeClr val="tx1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94360" y="4661154"/>
            <a:ext cx="6400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where  π(X) = inf_{δ∈H} ρ(X + (δ·S)T − CT(δ))</a:t>
            </a:r>
            <a:endParaRPr lang="en-US" dirty="0">
              <a:solidFill>
                <a:schemeClr val="tx1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Convex Risk Measures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41248"/>
            <a:ext cx="8321040" cy="36576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87552"/>
            <a:ext cx="8321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ρ: X → ℝ  is a convex risk measure if it satisfies:</a:t>
            </a:r>
            <a:endParaRPr lang="en-US" sz="2400" dirty="0">
              <a:solidFill>
                <a:srgbClr val="2C3E5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" y="1389888"/>
            <a:ext cx="502920" cy="50292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89888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①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399032"/>
            <a:ext cx="22860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Monotone Decreasing</a:t>
            </a:r>
            <a:endParaRPr lang="en-US" b="1" dirty="0">
              <a:solidFill>
                <a:srgbClr val="1E3A5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383280" y="1398905"/>
            <a:ext cx="5272405" cy="2559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E6DA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X₁ ≥ X₂  ⟹  ρ(X₁) ≤ ρ(X₂)</a:t>
            </a:r>
            <a:endParaRPr lang="en-US" sz="2000" dirty="0">
              <a:solidFill>
                <a:srgbClr val="2E6DA4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51560" y="1664208"/>
            <a:ext cx="7589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better position is less risky</a:t>
            </a:r>
            <a:endParaRPr lang="en-US" sz="1600" i="1" dirty="0">
              <a:solidFill>
                <a:srgbClr val="8A9AB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11480" y="2212848"/>
            <a:ext cx="502920" cy="50292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212848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2221992"/>
            <a:ext cx="22860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Convex</a:t>
            </a:r>
            <a:endParaRPr lang="en-US" b="1" dirty="0">
              <a:solidFill>
                <a:srgbClr val="1E3A5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383280" y="2221865"/>
            <a:ext cx="5251450" cy="2559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E6DA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ρ(αX₁ + (1−α)X₂) ≤ αρ(X₁) + (1−α)ρ(X₂)</a:t>
            </a:r>
            <a:endParaRPr lang="en-US" sz="2000" dirty="0">
              <a:solidFill>
                <a:srgbClr val="2E6DA4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51560" y="2487168"/>
            <a:ext cx="7589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Diversification is rewarded</a:t>
            </a:r>
            <a:endParaRPr lang="en-US" sz="1600" i="1" dirty="0">
              <a:solidFill>
                <a:srgbClr val="8A9AB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11480" y="3035808"/>
            <a:ext cx="502920" cy="50292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035808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③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3044952"/>
            <a:ext cx="22860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Cash-Invariant</a:t>
            </a:r>
            <a:endParaRPr lang="en-US" b="1" dirty="0">
              <a:solidFill>
                <a:srgbClr val="1E3A5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383280" y="3044825"/>
            <a:ext cx="5111750" cy="2559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E6DA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ρ(X + c) = ρ(X) − c</a:t>
            </a:r>
            <a:endParaRPr lang="en-US" sz="2000" dirty="0">
              <a:solidFill>
                <a:srgbClr val="2E6DA4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51560" y="3310128"/>
            <a:ext cx="75895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Adding cash reduces risk by exactly c</a:t>
            </a:r>
            <a:endParaRPr lang="en-US" sz="1600" i="1" dirty="0">
              <a:solidFill>
                <a:srgbClr val="8A9AB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11480" y="3913632"/>
            <a:ext cx="82296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005072"/>
            <a:ext cx="21031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interpretation: </a:t>
            </a:r>
            <a:endParaRPr lang="en-US" b="1" dirty="0">
              <a:solidFill>
                <a:srgbClr val="D4A01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583180" y="4004945"/>
            <a:ext cx="6263640" cy="2559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ρ(X) is the minimal cash injection needed to make position X acceptable,</a:t>
            </a:r>
            <a:endParaRPr lang="en-US" sz="16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94360" y="4297680"/>
            <a:ext cx="7909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0C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i.e., ρ(X + ρ(X)) = 0.   Examples: CVaR (Expected Shortfall), Entropic Risk Measure.</a:t>
            </a:r>
            <a:endParaRPr lang="en-US" sz="1600" dirty="0">
              <a:solidFill>
                <a:srgbClr val="A0C0E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295"/>
            <a:ext cx="87731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Neural Network Parameterization of Hedging Strategies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41248"/>
            <a:ext cx="8321040" cy="36576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87552"/>
            <a:ext cx="8321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 each time step tₖ, holdings are given by a neural network:</a:t>
            </a:r>
            <a:endParaRPr lang="en-US" dirty="0">
              <a:solidFill>
                <a:srgbClr val="2C3E5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" y="1353312"/>
            <a:ext cx="822960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44625"/>
            <a:ext cx="815721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δₖ  =  Fᶿₖ ( I₀, I₁, …, Iₖ,  δₖ₋₁ )</a:t>
            </a:r>
            <a:endParaRPr lang="en-US" sz="2400" b="1" dirty="0">
              <a:solidFill>
                <a:srgbClr val="FFFFFF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411480" y="2103120"/>
            <a:ext cx="26517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>
            <p:custDataLst>
              <p:tags r:id="rId2"/>
            </p:custDataLst>
          </p:nvPr>
        </p:nvSpPr>
        <p:spPr>
          <a:xfrm>
            <a:off x="411480" y="2103120"/>
            <a:ext cx="64008" cy="2697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576072" y="2194560"/>
            <a:ext cx="2423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Inputs</a:t>
            </a:r>
            <a:endParaRPr lang="en-US" sz="2400" b="1" dirty="0">
              <a:solidFill>
                <a:srgbClr val="1E3A5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Text 9"/>
          <p:cNvSpPr/>
          <p:nvPr>
            <p:custDataLst>
              <p:tags r:id="rId4"/>
            </p:custDataLst>
          </p:nvPr>
        </p:nvSpPr>
        <p:spPr>
          <a:xfrm>
            <a:off x="576072" y="2542032"/>
            <a:ext cx="2423160" cy="21671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Market information vector Iₖ = (I₀, …, Iₖ)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Previous holdings δₖ₋₁ ∈ ℝᵈ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input dimension: r(k+1) + d</a:t>
            </a:r>
            <a:endParaRPr lang="en-US" dirty="0">
              <a:solidFill>
                <a:srgbClr val="2C3E5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Shape 10"/>
          <p:cNvSpPr/>
          <p:nvPr>
            <p:custDataLst>
              <p:tags r:id="rId5"/>
            </p:custDataLst>
          </p:nvPr>
        </p:nvSpPr>
        <p:spPr>
          <a:xfrm>
            <a:off x="3291840" y="2103120"/>
            <a:ext cx="26517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>
            <p:custDataLst>
              <p:tags r:id="rId6"/>
            </p:custDataLst>
          </p:nvPr>
        </p:nvSpPr>
        <p:spPr>
          <a:xfrm>
            <a:off x="3291840" y="2103120"/>
            <a:ext cx="64008" cy="269748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4" name="Text 12"/>
          <p:cNvSpPr/>
          <p:nvPr>
            <p:custDataLst>
              <p:tags r:id="rId7"/>
            </p:custDataLst>
          </p:nvPr>
        </p:nvSpPr>
        <p:spPr>
          <a:xfrm>
            <a:off x="3456432" y="2194560"/>
            <a:ext cx="2423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6DA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</a:t>
            </a:r>
            <a:endParaRPr lang="en-US" sz="2400" b="1" dirty="0">
              <a:solidFill>
                <a:srgbClr val="2E6DA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Text 13"/>
          <p:cNvSpPr/>
          <p:nvPr>
            <p:custDataLst>
              <p:tags r:id="rId8"/>
            </p:custDataLst>
          </p:nvPr>
        </p:nvSpPr>
        <p:spPr>
          <a:xfrm>
            <a:off x="3456432" y="2542032"/>
            <a:ext cx="2423160" cy="21671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 = 3 layers total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hidden layers, each width d + 15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ReLU activation σ(x) = max(x, 0)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Batch normalization in each layer</a:t>
            </a:r>
            <a:endParaRPr lang="en-US" dirty="0">
              <a:solidFill>
                <a:srgbClr val="2C3E5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6" name="Shape 14"/>
          <p:cNvSpPr/>
          <p:nvPr>
            <p:custDataLst>
              <p:tags r:id="rId9"/>
            </p:custDataLst>
          </p:nvPr>
        </p:nvSpPr>
        <p:spPr>
          <a:xfrm>
            <a:off x="6172200" y="2103120"/>
            <a:ext cx="26517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>
            <p:custDataLst>
              <p:tags r:id="rId10"/>
            </p:custDataLst>
          </p:nvPr>
        </p:nvSpPr>
        <p:spPr>
          <a:xfrm>
            <a:off x="6172200" y="2103120"/>
            <a:ext cx="64008" cy="269748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8" name="Text 16"/>
          <p:cNvSpPr/>
          <p:nvPr>
            <p:custDataLst>
              <p:tags r:id="rId11"/>
            </p:custDataLst>
          </p:nvPr>
        </p:nvSpPr>
        <p:spPr>
          <a:xfrm>
            <a:off x="6336792" y="2194560"/>
            <a:ext cx="2423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B9BD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</a:t>
            </a:r>
            <a:endParaRPr lang="en-US" sz="2400" b="1" dirty="0">
              <a:solidFill>
                <a:srgbClr val="5B9BD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" name="Text 17"/>
          <p:cNvSpPr/>
          <p:nvPr>
            <p:custDataLst>
              <p:tags r:id="rId12"/>
            </p:custDataLst>
          </p:nvPr>
        </p:nvSpPr>
        <p:spPr>
          <a:xfrm>
            <a:off x="6336792" y="2542032"/>
            <a:ext cx="2423160" cy="216712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δₖ ∈ ℝᵈ: holdings in each instrument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Passed through constraint map Hₖ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Separate parameter set θₖ per time step</a:t>
            </a:r>
            <a:endParaRPr lang="en-US" dirty="0">
              <a:solidFill>
                <a:srgbClr val="2C3E5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the Deep Hedging Network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41248"/>
            <a:ext cx="8321040" cy="36576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Objective for OCE risk measures:</a:t>
            </a:r>
            <a:endParaRPr lang="en-US" sz="2000" dirty="0">
              <a:solidFill>
                <a:srgbClr val="2C3E5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8229600" cy="548640"/>
          </a:xfrm>
          <a:prstGeom prst="rect">
            <a:avLst/>
          </a:prstGeom>
          <a:solidFill>
            <a:srgbClr val="EBF3FB"/>
          </a:solidFill>
          <a:ln w="19050">
            <a:solidFill>
              <a:srgbClr val="5B9B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71600"/>
            <a:ext cx="78638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E3A5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J(w, θ̄)  =  w  +  E[ ℓ( Z − (δᶿ̄·S)T + CT(δᶿ̄) − w ) ]</a:t>
            </a:r>
            <a:endParaRPr lang="en-US" dirty="0">
              <a:solidFill>
                <a:srgbClr val="1E3A5F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8" name="Shape 6"/>
          <p:cNvSpPr/>
          <p:nvPr>
            <p:custDataLst>
              <p:tags r:id="rId1"/>
            </p:custDataLst>
          </p:nvPr>
        </p:nvSpPr>
        <p:spPr>
          <a:xfrm>
            <a:off x="411480" y="201168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>
            <p:custDataLst>
              <p:tags r:id="rId2"/>
            </p:custDataLst>
          </p:nvPr>
        </p:nvSpPr>
        <p:spPr>
          <a:xfrm>
            <a:off x="1417320" y="2084832"/>
            <a:ext cx="640080" cy="64008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1417320" y="2084832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>
            <p:custDataLst>
              <p:tags r:id="rId4"/>
            </p:custDataLst>
          </p:nvPr>
        </p:nvSpPr>
        <p:spPr>
          <a:xfrm>
            <a:off x="521208" y="2834640"/>
            <a:ext cx="243230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Mini-Batch SGD</a:t>
            </a:r>
            <a:endParaRPr lang="en-US" b="1" dirty="0">
              <a:solidFill>
                <a:srgbClr val="1E3A5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Text 10"/>
          <p:cNvSpPr/>
          <p:nvPr>
            <p:custDataLst>
              <p:tags r:id="rId5"/>
            </p:custDataLst>
          </p:nvPr>
        </p:nvSpPr>
        <p:spPr>
          <a:xfrm>
            <a:off x="521208" y="3246120"/>
            <a:ext cx="2432304" cy="1508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 each step, replace the full expectation over Ω with an average over Nbatch = 256 random scenarios.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Reduces cost from O(N) to O(Nbatch) per step.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Randomness helps escape local minima.</a:t>
            </a:r>
            <a:endParaRPr lang="en-US" sz="1200" dirty="0">
              <a:solidFill>
                <a:srgbClr val="2C3E5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Shape 11"/>
          <p:cNvSpPr/>
          <p:nvPr>
            <p:custDataLst>
              <p:tags r:id="rId6"/>
            </p:custDataLst>
          </p:nvPr>
        </p:nvSpPr>
        <p:spPr>
          <a:xfrm>
            <a:off x="3291840" y="201168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>
            <p:custDataLst>
              <p:tags r:id="rId7"/>
            </p:custDataLst>
          </p:nvPr>
        </p:nvSpPr>
        <p:spPr>
          <a:xfrm>
            <a:off x="4297680" y="2084832"/>
            <a:ext cx="640080" cy="64008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5" name="Text 13"/>
          <p:cNvSpPr/>
          <p:nvPr>
            <p:custDataLst>
              <p:tags r:id="rId8"/>
            </p:custDataLst>
          </p:nvPr>
        </p:nvSpPr>
        <p:spPr>
          <a:xfrm>
            <a:off x="4297680" y="2084832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>
            <p:custDataLst>
              <p:tags r:id="rId9"/>
            </p:custDataLst>
          </p:nvPr>
        </p:nvSpPr>
        <p:spPr>
          <a:xfrm>
            <a:off x="3401568" y="2834640"/>
            <a:ext cx="243230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6DA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Adam Optimizer</a:t>
            </a:r>
            <a:endParaRPr lang="en-US" b="1" dirty="0">
              <a:solidFill>
                <a:srgbClr val="2E6DA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Text 15"/>
          <p:cNvSpPr/>
          <p:nvPr>
            <p:custDataLst>
              <p:tags r:id="rId10"/>
            </p:custDataLst>
          </p:nvPr>
        </p:nvSpPr>
        <p:spPr>
          <a:xfrm>
            <a:off x="3401568" y="3246120"/>
            <a:ext cx="2432304" cy="1508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Adaptive learning rate algorithm (Kingma &amp; Ba, 2015).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Adjusts step size per parameter.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Faster convergence than vanilla SGD.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Learning rate: 0.005</a:t>
            </a:r>
            <a:endParaRPr lang="en-US" sz="1200" dirty="0">
              <a:solidFill>
                <a:srgbClr val="2C3E5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" name="Shape 16"/>
          <p:cNvSpPr/>
          <p:nvPr>
            <p:custDataLst>
              <p:tags r:id="rId11"/>
            </p:custDataLst>
          </p:nvPr>
        </p:nvSpPr>
        <p:spPr>
          <a:xfrm>
            <a:off x="6172200" y="201168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>
            <p:custDataLst>
              <p:tags r:id="rId12"/>
            </p:custDataLst>
          </p:nvPr>
        </p:nvSpPr>
        <p:spPr>
          <a:xfrm>
            <a:off x="7178040" y="2084832"/>
            <a:ext cx="640080" cy="640080"/>
          </a:xfrm>
          <a:prstGeom prst="ellips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0" name="Text 18"/>
          <p:cNvSpPr/>
          <p:nvPr>
            <p:custDataLst>
              <p:tags r:id="rId13"/>
            </p:custDataLst>
          </p:nvPr>
        </p:nvSpPr>
        <p:spPr>
          <a:xfrm>
            <a:off x="7178040" y="2084832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>
            <p:custDataLst>
              <p:tags r:id="rId14"/>
            </p:custDataLst>
          </p:nvPr>
        </p:nvSpPr>
        <p:spPr>
          <a:xfrm>
            <a:off x="6281928" y="2834640"/>
            <a:ext cx="243230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5B9BD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Backpropagation</a:t>
            </a:r>
            <a:endParaRPr lang="en-US" b="1" dirty="0">
              <a:solidFill>
                <a:srgbClr val="5B9BD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2" name="Text 20"/>
          <p:cNvSpPr/>
          <p:nvPr>
            <p:custDataLst>
              <p:tags r:id="rId15"/>
            </p:custDataLst>
          </p:nvPr>
        </p:nvSpPr>
        <p:spPr>
          <a:xfrm>
            <a:off x="6281928" y="3246120"/>
            <a:ext cx="2432304" cy="1508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Chain rule through the composite neural network.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Analytical gradients via forward pass + backward pass.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Efficient: O(weights) per sample.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Enables end-to-end differentiable training.</a:t>
            </a:r>
            <a:endParaRPr lang="en-US" sz="1200" dirty="0">
              <a:solidFill>
                <a:srgbClr val="2C3E5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295"/>
            <a:ext cx="867537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It Works: Universal Approximation &amp; Convergence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41248"/>
            <a:ext cx="8321040" cy="36576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87552"/>
            <a:ext cx="8229600" cy="1143000"/>
          </a:xfrm>
          <a:prstGeom prst="rect">
            <a:avLst/>
          </a:prstGeom>
          <a:solidFill>
            <a:srgbClr val="EBF3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42416"/>
            <a:ext cx="7863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Theorem (Universal Approximation, Hornik 1991)</a:t>
            </a:r>
            <a:endParaRPr lang="en-US" b="1" dirty="0">
              <a:solidFill>
                <a:srgbClr val="1E3A5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4360" y="1353312"/>
            <a:ext cx="786384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any bounded non-constant σ and finite measure μ, the set of neural networks NNσ_{∞,d,1} is dense in Lᵖ(ℝᵈ, μ). Neural networks can approximate any measurable function arbitrarily well.</a:t>
            </a:r>
            <a:endParaRPr lang="en-US" sz="1600" dirty="0">
              <a:solidFill>
                <a:srgbClr val="2C3E5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11480" y="2231136"/>
            <a:ext cx="8229600" cy="8686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286000"/>
            <a:ext cx="78638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Proposition 4.9 (Convergence of Neural Network Hedge Prices)</a:t>
            </a:r>
            <a:endParaRPr lang="en-US" b="1" dirty="0">
              <a:solidFill>
                <a:srgbClr val="D4A01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94360" y="2596896"/>
            <a:ext cx="78638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As network size M → ∞,   πᴹ(X) → π(X)   for all X ∈ X</a:t>
            </a:r>
            <a:endParaRPr lang="en-US" dirty="0">
              <a:solidFill>
                <a:srgbClr val="FFFFFF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320040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Proof sketch (geometric intuition):</a:t>
            </a:r>
            <a:endParaRPr lang="en-US" b="1" dirty="0">
              <a:solidFill>
                <a:srgbClr val="1E3A5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11480" y="3520440"/>
            <a:ext cx="1051560" cy="384048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520440"/>
            <a:ext cx="10515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1</a:t>
            </a:r>
            <a:endParaRPr lang="en-US" sz="16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554480" y="3520440"/>
            <a:ext cx="6995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HM ⊆ HM+1 ⊆ H ⟹ πM(X) ≥ πM+1(X) ≥ π(X)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Neural network prices decrease monotonically toward true optimum.</a:t>
            </a:r>
            <a:endParaRPr lang="en-US" sz="1600" dirty="0">
              <a:solidFill>
                <a:srgbClr val="2C3E5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1480" y="4023360"/>
            <a:ext cx="1051560" cy="384048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4034790"/>
            <a:ext cx="10515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2</a:t>
            </a:r>
            <a:endParaRPr lang="en-US" sz="16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554480" y="4051935"/>
            <a:ext cx="69951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By UAT, any optimal δ can be approximated pointwise by neural networks Fk,n.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 finite Ω, pointwise convergence of δ gives convergence of ρ(·) by continuity.</a:t>
            </a:r>
            <a:endParaRPr lang="en-US" sz="1600" dirty="0">
              <a:solidFill>
                <a:srgbClr val="2C3E5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11480" y="4526280"/>
            <a:ext cx="105156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531995"/>
            <a:ext cx="10515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14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554480" y="4612005"/>
            <a:ext cx="7367270" cy="3841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any ε &gt; 0, eventually πM(X) ≤ π(X) + ε. Together with Step 1: πM(X) → π(X). The key is finiteness of Ω which makes ρ a continuous finite-dimensional convex function.</a:t>
            </a:r>
            <a:endParaRPr lang="en-US" sz="1600" dirty="0">
              <a:solidFill>
                <a:srgbClr val="2C3E5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Numerical Experiments: Heston Model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41248"/>
            <a:ext cx="8321040" cy="36576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60120"/>
            <a:ext cx="8321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Heston model · d = 2 instruments (stock S¹ + variance swap S²) · 30 daily trading steps</a:t>
            </a:r>
            <a:endParaRPr lang="en-US" i="1" dirty="0">
              <a:solidFill>
                <a:srgbClr val="8A9AB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411480" y="1325880"/>
            <a:ext cx="2633472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>
            <p:custDataLst>
              <p:tags r:id="rId2"/>
            </p:custDataLst>
          </p:nvPr>
        </p:nvSpPr>
        <p:spPr>
          <a:xfrm>
            <a:off x="411480" y="1325880"/>
            <a:ext cx="64008" cy="3474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576072" y="1417320"/>
            <a:ext cx="240487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① Benchmark: No Costs</a:t>
            </a:r>
            <a:endParaRPr lang="en-US" sz="1600" b="1" dirty="0">
              <a:solidFill>
                <a:srgbClr val="1E3A5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576072" y="1764792"/>
            <a:ext cx="2404872" cy="2944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CVaR (α=0.5): deep hedge ≈ model delta hedge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Validates algorithm correctness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Risk-neutral price q = 1.69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α=0.5 risk-adjusted price: 1.94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α=0.99 risk-adjusted price: 3.49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More risk-averse → higher premium, less tail risk</a:t>
            </a:r>
            <a:endParaRPr lang="en-US" sz="1400" dirty="0">
              <a:solidFill>
                <a:srgbClr val="2C3E5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Shape 8"/>
          <p:cNvSpPr/>
          <p:nvPr>
            <p:custDataLst>
              <p:tags r:id="rId5"/>
            </p:custDataLst>
          </p:nvPr>
        </p:nvSpPr>
        <p:spPr>
          <a:xfrm>
            <a:off x="3255264" y="1325880"/>
            <a:ext cx="2633472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>
            <p:custDataLst>
              <p:tags r:id="rId6"/>
            </p:custDataLst>
          </p:nvPr>
        </p:nvSpPr>
        <p:spPr>
          <a:xfrm>
            <a:off x="3255264" y="1325880"/>
            <a:ext cx="64008" cy="347472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2" name="Text 10"/>
          <p:cNvSpPr/>
          <p:nvPr>
            <p:custDataLst>
              <p:tags r:id="rId7"/>
            </p:custDataLst>
          </p:nvPr>
        </p:nvSpPr>
        <p:spPr>
          <a:xfrm>
            <a:off x="3419856" y="1417320"/>
            <a:ext cx="240487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6DA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② Transaction Costs</a:t>
            </a:r>
            <a:endParaRPr lang="en-US" sz="1600" b="1" dirty="0">
              <a:solidFill>
                <a:srgbClr val="2E6DA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Text 11"/>
          <p:cNvSpPr/>
          <p:nvPr>
            <p:custDataLst>
              <p:tags r:id="rId8"/>
            </p:custDataLst>
          </p:nvPr>
        </p:nvSpPr>
        <p:spPr>
          <a:xfrm>
            <a:off x="3419856" y="1764792"/>
            <a:ext cx="2404872" cy="2944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Proportional costs: cₖ(n) = ε·Σ|nⁱ|·Sᵢₖ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Known result (Black-Scholes):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pε − p₀ = O(ε^{2/3})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 hedge recovers rate ≈ 0.67 ✓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Heston (d=2): rate ≈ 0.71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First numerical evidence for multi-asset ε^{2/3} scaling</a:t>
            </a:r>
            <a:endParaRPr lang="en-US" sz="1400" dirty="0">
              <a:solidFill>
                <a:srgbClr val="2C3E5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" name="Shape 12"/>
          <p:cNvSpPr/>
          <p:nvPr>
            <p:custDataLst>
              <p:tags r:id="rId9"/>
            </p:custDataLst>
          </p:nvPr>
        </p:nvSpPr>
        <p:spPr>
          <a:xfrm>
            <a:off x="6099048" y="1325880"/>
            <a:ext cx="2633472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>
            <p:custDataLst>
              <p:tags r:id="rId10"/>
            </p:custDataLst>
          </p:nvPr>
        </p:nvSpPr>
        <p:spPr>
          <a:xfrm>
            <a:off x="6099048" y="1325880"/>
            <a:ext cx="64008" cy="347472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6" name="Text 14"/>
          <p:cNvSpPr/>
          <p:nvPr>
            <p:custDataLst>
              <p:tags r:id="rId11"/>
            </p:custDataLst>
          </p:nvPr>
        </p:nvSpPr>
        <p:spPr>
          <a:xfrm>
            <a:off x="6263640" y="1417320"/>
            <a:ext cx="2404872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9BD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③ High Dimensions</a:t>
            </a:r>
            <a:endParaRPr lang="en-US" sz="1600" b="1" dirty="0">
              <a:solidFill>
                <a:srgbClr val="5B9BD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Text 15"/>
          <p:cNvSpPr/>
          <p:nvPr>
            <p:custDataLst>
              <p:tags r:id="rId12"/>
            </p:custDataLst>
          </p:nvPr>
        </p:nvSpPr>
        <p:spPr>
          <a:xfrm>
            <a:off x="6263640" y="1764792"/>
            <a:ext cx="2404872" cy="2944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 = 10: 5 independent Heston models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Payoff: Z = Σ₅ₕ₌₁ (S²ʰ⁻¹_T − K)⁺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Optimal strategy is decoupled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 recovers this without being told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Loss(d=10) ≈ 5 × Loss(d=2) ✓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Training: 5.75h vs 2.1h (standard laptop)</a:t>
            </a:r>
            <a:endParaRPr lang="en-US" sz="1400" dirty="0">
              <a:solidFill>
                <a:srgbClr val="2C3E5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Extension to General Convex Risk Measures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41248"/>
            <a:ext cx="8321040" cy="36576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risk measures beyond OCE, the paper uses the robust representation theorem:</a:t>
            </a:r>
            <a:endParaRPr lang="en-US" dirty="0">
              <a:solidFill>
                <a:srgbClr val="2C3E5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8229600" cy="822960"/>
          </a:xfrm>
          <a:prstGeom prst="rect">
            <a:avLst/>
          </a:prstGeom>
          <a:solidFill>
            <a:srgbClr val="EBF3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53312"/>
            <a:ext cx="7863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Theorem 4.12 (Robust Representation):</a:t>
            </a:r>
            <a:endParaRPr lang="en-US" sz="1600" b="1" dirty="0">
              <a:solidFill>
                <a:srgbClr val="1E3A5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94360" y="1627632"/>
            <a:ext cx="78638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E6DA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ρ(X) = max_{Q∈P} { E_Q[−X] − α(Q) }     where α(Q) is the penalty function</a:t>
            </a:r>
            <a:endParaRPr lang="en-US" sz="1600" dirty="0">
              <a:solidFill>
                <a:srgbClr val="2E6DA4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11480" y="2212848"/>
            <a:ext cx="8229600" cy="914400"/>
          </a:xfrm>
          <a:prstGeom prst="rect">
            <a:avLst/>
          </a:prstGeom>
          <a:solidFill>
            <a:srgbClr val="EBF3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267712"/>
            <a:ext cx="7863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Theorem 4.13 (Neural Network Approximation of ρ):</a:t>
            </a:r>
            <a:endParaRPr lang="en-US" sz="1600" b="1" dirty="0">
              <a:solidFill>
                <a:srgbClr val="1E3A5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94360" y="2542032"/>
            <a:ext cx="786384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supremum over probability measures can be approximated by neural networks,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yielding: ρ(X) = lim_{M→∞} ρᴹ(X)   (approximation via log-likelihood neural nets)</a:t>
            </a:r>
            <a:endParaRPr lang="en-US" sz="1600" dirty="0">
              <a:solidFill>
                <a:srgbClr val="2C3E5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11480" y="3218688"/>
            <a:ext cx="822960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359277"/>
            <a:ext cx="2560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Minimax hedging problem:</a:t>
            </a:r>
            <a:endParaRPr lang="en-US" b="1" dirty="0">
              <a:solidFill>
                <a:srgbClr val="D4A01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543175" y="3273425"/>
            <a:ext cx="6095365" cy="4756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inf_{θ₀} sup_{θ₁} J(θ₀, θ₁)     θ₀: hedging strategy   θ₁: adversarial measure</a:t>
            </a:r>
            <a:endParaRPr lang="en-US" sz="1600" dirty="0">
              <a:solidFill>
                <a:srgbClr val="FFFFFF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11480" y="3950335"/>
            <a:ext cx="8229600" cy="74993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Both optimizations satisfy the two ML properties needed for SGD:</a:t>
            </a:r>
            <a:endParaRPr lang="en-US" dirty="0"/>
          </a:p>
          <a:p>
            <a:pPr marL="0" indent="0">
              <a:buNone/>
            </a:pPr>
            <a:r>
              <a:rPr lang="en-US" i="1" dirty="0">
                <a:solidFill>
                  <a:srgbClr val="8A9A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(ML1) Gradient decomposes as a sum over samples.   (ML2) Gradients computable via backpropagation.</a:t>
            </a:r>
            <a:endParaRPr lang="en-US" i="1" dirty="0">
              <a:solidFill>
                <a:srgbClr val="8A9AB5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11480" y="4726305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6DA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Extends deep hedging to any coherent risk measure, including CVaR.</a:t>
            </a:r>
            <a:endParaRPr lang="en-US" b="1" dirty="0">
              <a:solidFill>
                <a:srgbClr val="2E6DA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Summary &amp; Key Contributions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41248"/>
            <a:ext cx="8321040" cy="36576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4114800" cy="1698625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05840"/>
            <a:ext cx="4114800" cy="640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52144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🔬  Model-Free Framework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384048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equivalent martingale measure, no Greeks, no closed-form formulas. Only sample paths needed.</a:t>
            </a:r>
            <a:endParaRPr lang="en-US" dirty="0">
              <a:solidFill>
                <a:srgbClr val="2C3E5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14800" cy="1697355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4114800" cy="640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52144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🧮  Theoretical Guarantee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554480"/>
            <a:ext cx="384048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Proposition 4.9: πᴹ(X) → π(X). Rigorous convergence grounded in the Universal Approximation Theorem.</a:t>
            </a:r>
            <a:endParaRPr lang="en-US" dirty="0">
              <a:solidFill>
                <a:srgbClr val="2C3E5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11480" y="2846070"/>
            <a:ext cx="41148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846070"/>
            <a:ext cx="4114800" cy="640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992374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⚖️  General Risk Measures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429000"/>
            <a:ext cx="384048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Handles any convex risk measure via robust representation. Extends to coherent measures (CVaR) via minimax.</a:t>
            </a:r>
            <a:endParaRPr lang="en-US" dirty="0">
              <a:solidFill>
                <a:srgbClr val="2C3E5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754880" y="2846070"/>
            <a:ext cx="41148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846070"/>
            <a:ext cx="4114800" cy="640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992374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📊  Empirical Validation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3423285"/>
            <a:ext cx="384048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Recovers delta hedge (no costs), ε^{2/3} price scaling (transaction costs), scalable to d=10 instruments.</a:t>
            </a:r>
            <a:endParaRPr lang="en-US" dirty="0">
              <a:solidFill>
                <a:srgbClr val="2C3E5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11480" y="4619625"/>
            <a:ext cx="8458200" cy="513715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1015" y="4749165"/>
            <a:ext cx="8525510" cy="3111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Central insight: Convexity of ρ is the load-bearing structure — it enables convergence, pricing theory, and efficient gradient-based training.</a:t>
            </a:r>
            <a:endParaRPr lang="en-US" sz="1400" dirty="0">
              <a:solidFill>
                <a:srgbClr val="D4A01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0"/>
            <a:ext cx="77724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7863840" cy="0"/>
          </a:xfrm>
          <a:prstGeom prst="line">
            <a:avLst/>
          </a:prstGeom>
          <a:noFill/>
          <a:ln w="19050">
            <a:solidFill>
              <a:srgbClr val="5B9B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43150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Paper: </a:t>
            </a:r>
            <a:r>
              <a:rPr lang="en-US" sz="1400" dirty="0">
                <a:solidFill>
                  <a:srgbClr val="A8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Buehler, Gonon, Teichmann &amp; Wood (2019). Deep Hedging. </a:t>
            </a:r>
            <a:r>
              <a:rPr lang="en-US" sz="1400" i="1" dirty="0">
                <a:solidFill>
                  <a:srgbClr val="A8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Quantitative Finance, 19(8), 1271–1291.</a:t>
            </a:r>
            <a:endParaRPr lang="en-US" sz="1400" i="1" dirty="0">
              <a:solidFill>
                <a:srgbClr val="A8C8F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2891790"/>
            <a:ext cx="8046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Presented by: </a:t>
            </a:r>
            <a:r>
              <a:rPr lang="en-US" sz="1400" dirty="0">
                <a:solidFill>
                  <a:srgbClr val="7AAAD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Zongyu Mu  ·  MA529/DS595  ·  April 2026</a:t>
            </a:r>
            <a:endParaRPr lang="en-US" sz="1400" dirty="0">
              <a:solidFill>
                <a:srgbClr val="7AAAD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12.4,&quot;left&quot;:32.4,&quot;top&quot;:165.6,&quot;width&quot;:662.4}"/>
</p:tagLst>
</file>

<file path=ppt/tags/tag2.xml><?xml version="1.0" encoding="utf-8"?>
<p:tagLst xmlns:p="http://schemas.openxmlformats.org/presentationml/2006/main">
  <p:tag name="KSO_WM_DIAGRAM_VIRTUALLY_FRAME" val="{&quot;height&quot;:212.4,&quot;left&quot;:32.4,&quot;top&quot;:165.6,&quot;width&quot;:662.4}"/>
</p:tagLst>
</file>

<file path=ppt/tags/tag3.xml><?xml version="1.0" encoding="utf-8"?>
<p:tagLst xmlns:p="http://schemas.openxmlformats.org/presentationml/2006/main">
  <p:tag name="KSO_WM_DIAGRAM_VIRTUALLY_FRAME" val="{&quot;height&quot;:212.4,&quot;left&quot;:32.4,&quot;top&quot;:165.6,&quot;width&quot;:662.4}"/>
</p:tagLst>
</file>

<file path=ppt/tags/tag4.xml><?xml version="1.0" encoding="utf-8"?>
<p:tagLst xmlns:p="http://schemas.openxmlformats.org/presentationml/2006/main">
  <p:tag name="KSO_WM_DIAGRAM_VIRTUALLY_FRAME" val="{&quot;height&quot;:212.4,&quot;left&quot;:32.4,&quot;top&quot;:165.6,&quot;width&quot;:662.4}"/>
</p:tagLst>
</file>

<file path=ppt/tags/tag5.xml><?xml version="1.0" encoding="utf-8"?>
<p:tagLst xmlns:p="http://schemas.openxmlformats.org/presentationml/2006/main">
  <p:tag name="KSO_WM_DIAGRAM_VIRTUALLY_FRAME" val="{&quot;height&quot;:212.4,&quot;left&quot;:32.4,&quot;top&quot;:165.6,&quot;width&quot;:662.4}"/>
</p:tagLst>
</file>

<file path=ppt/tags/tag6.xml><?xml version="1.0" encoding="utf-8"?>
<p:tagLst xmlns:p="http://schemas.openxmlformats.org/presentationml/2006/main">
  <p:tag name="KSO_WM_DIAGRAM_VIRTUALLY_FRAME" val="{&quot;height&quot;:212.4,&quot;left&quot;:32.4,&quot;top&quot;:165.6,&quot;width&quot;:662.4}"/>
</p:tagLst>
</file>

<file path=ppt/tags/tag7.xml><?xml version="1.0" encoding="utf-8"?>
<p:tagLst xmlns:p="http://schemas.openxmlformats.org/presentationml/2006/main">
  <p:tag name="KSO_WM_DIAGRAM_VIRTUALLY_FRAME" val="{&quot;height&quot;:212.4,&quot;left&quot;:32.4,&quot;top&quot;:165.6,&quot;width&quot;:662.4}"/>
</p:tagLst>
</file>

<file path=ppt/tags/tag8.xml><?xml version="1.0" encoding="utf-8"?>
<p:tagLst xmlns:p="http://schemas.openxmlformats.org/presentationml/2006/main">
  <p:tag name="KSO_WM_DIAGRAM_VIRTUALLY_FRAME" val="{&quot;height&quot;:212.4,&quot;left&quot;:32.4,&quot;top&quot;:165.6,&quot;width&quot;:662.4}"/>
</p:tagLst>
</file>

<file path=ppt/tags/tag9.xml><?xml version="1.0" encoding="utf-8"?>
<p:tagLst xmlns:p="http://schemas.openxmlformats.org/presentationml/2006/main">
  <p:tag name="KSO_WM_DIAGRAM_VIRTUALLY_FRAME" val="{&quot;height&quot;:212.4,&quot;left&quot;:32.4,&quot;top&quot;:165.6,&quot;width&quot;:662.4}"/>
</p:tagLst>
</file>

<file path=ppt/tags/tag10.xml><?xml version="1.0" encoding="utf-8"?>
<p:tagLst xmlns:p="http://schemas.openxmlformats.org/presentationml/2006/main">
  <p:tag name="KSO_WM_DIAGRAM_VIRTUALLY_FRAME" val="{&quot;height&quot;:212.4,&quot;left&quot;:32.4,&quot;top&quot;:165.6,&quot;width&quot;:662.4}"/>
</p:tagLst>
</file>

<file path=ppt/tags/tag11.xml><?xml version="1.0" encoding="utf-8"?>
<p:tagLst xmlns:p="http://schemas.openxmlformats.org/presentationml/2006/main">
  <p:tag name="KSO_WM_DIAGRAM_VIRTUALLY_FRAME" val="{&quot;height&quot;:212.4,&quot;left&quot;:32.4,&quot;top&quot;:165.6,&quot;width&quot;:662.4}"/>
</p:tagLst>
</file>

<file path=ppt/tags/tag12.xml><?xml version="1.0" encoding="utf-8"?>
<p:tagLst xmlns:p="http://schemas.openxmlformats.org/presentationml/2006/main">
  <p:tag name="KSO_WM_DIAGRAM_VIRTUALLY_FRAME" val="{&quot;height&quot;:212.4,&quot;left&quot;:32.4,&quot;top&quot;:165.6,&quot;width&quot;:662.4}"/>
</p:tagLst>
</file>

<file path=ppt/tags/tag13.xml><?xml version="1.0" encoding="utf-8"?>
<p:tagLst xmlns:p="http://schemas.openxmlformats.org/presentationml/2006/main">
  <p:tag name="KSO_WM_DIAGRAM_VIRTUALLY_FRAME" val="{&quot;height&quot;:223.2,&quot;left&quot;:32.4,&quot;top&quot;:158.4,&quot;width&quot;:662.4}"/>
</p:tagLst>
</file>

<file path=ppt/tags/tag14.xml><?xml version="1.0" encoding="utf-8"?>
<p:tagLst xmlns:p="http://schemas.openxmlformats.org/presentationml/2006/main">
  <p:tag name="KSO_WM_DIAGRAM_VIRTUALLY_FRAME" val="{&quot;height&quot;:223.2,&quot;left&quot;:32.4,&quot;top&quot;:158.4,&quot;width&quot;:662.4}"/>
</p:tagLst>
</file>

<file path=ppt/tags/tag15.xml><?xml version="1.0" encoding="utf-8"?>
<p:tagLst xmlns:p="http://schemas.openxmlformats.org/presentationml/2006/main">
  <p:tag name="KSO_WM_DIAGRAM_VIRTUALLY_FRAME" val="{&quot;height&quot;:223.2,&quot;left&quot;:32.4,&quot;top&quot;:158.4,&quot;width&quot;:662.4}"/>
</p:tagLst>
</file>

<file path=ppt/tags/tag16.xml><?xml version="1.0" encoding="utf-8"?>
<p:tagLst xmlns:p="http://schemas.openxmlformats.org/presentationml/2006/main">
  <p:tag name="KSO_WM_DIAGRAM_VIRTUALLY_FRAME" val="{&quot;height&quot;:223.2,&quot;left&quot;:32.4,&quot;top&quot;:158.4,&quot;width&quot;:662.4}"/>
</p:tagLst>
</file>

<file path=ppt/tags/tag17.xml><?xml version="1.0" encoding="utf-8"?>
<p:tagLst xmlns:p="http://schemas.openxmlformats.org/presentationml/2006/main">
  <p:tag name="KSO_WM_DIAGRAM_VIRTUALLY_FRAME" val="{&quot;height&quot;:223.2,&quot;left&quot;:32.4,&quot;top&quot;:158.4,&quot;width&quot;:662.4}"/>
</p:tagLst>
</file>

<file path=ppt/tags/tag18.xml><?xml version="1.0" encoding="utf-8"?>
<p:tagLst xmlns:p="http://schemas.openxmlformats.org/presentationml/2006/main">
  <p:tag name="KSO_WM_DIAGRAM_VIRTUALLY_FRAME" val="{&quot;height&quot;:223.2,&quot;left&quot;:32.4,&quot;top&quot;:158.4,&quot;width&quot;:662.4}"/>
</p:tagLst>
</file>

<file path=ppt/tags/tag19.xml><?xml version="1.0" encoding="utf-8"?>
<p:tagLst xmlns:p="http://schemas.openxmlformats.org/presentationml/2006/main">
  <p:tag name="KSO_WM_DIAGRAM_VIRTUALLY_FRAME" val="{&quot;height&quot;:223.2,&quot;left&quot;:32.4,&quot;top&quot;:158.4,&quot;width&quot;:662.4}"/>
</p:tagLst>
</file>

<file path=ppt/tags/tag20.xml><?xml version="1.0" encoding="utf-8"?>
<p:tagLst xmlns:p="http://schemas.openxmlformats.org/presentationml/2006/main">
  <p:tag name="KSO_WM_DIAGRAM_VIRTUALLY_FRAME" val="{&quot;height&quot;:223.2,&quot;left&quot;:32.4,&quot;top&quot;:158.4,&quot;width&quot;:662.4}"/>
</p:tagLst>
</file>

<file path=ppt/tags/tag21.xml><?xml version="1.0" encoding="utf-8"?>
<p:tagLst xmlns:p="http://schemas.openxmlformats.org/presentationml/2006/main">
  <p:tag name="KSO_WM_DIAGRAM_VIRTUALLY_FRAME" val="{&quot;height&quot;:223.2,&quot;left&quot;:32.4,&quot;top&quot;:158.4,&quot;width&quot;:662.4}"/>
</p:tagLst>
</file>

<file path=ppt/tags/tag22.xml><?xml version="1.0" encoding="utf-8"?>
<p:tagLst xmlns:p="http://schemas.openxmlformats.org/presentationml/2006/main">
  <p:tag name="KSO_WM_DIAGRAM_VIRTUALLY_FRAME" val="{&quot;height&quot;:223.2,&quot;left&quot;:32.4,&quot;top&quot;:158.4,&quot;width&quot;:662.4}"/>
</p:tagLst>
</file>

<file path=ppt/tags/tag23.xml><?xml version="1.0" encoding="utf-8"?>
<p:tagLst xmlns:p="http://schemas.openxmlformats.org/presentationml/2006/main">
  <p:tag name="KSO_WM_DIAGRAM_VIRTUALLY_FRAME" val="{&quot;height&quot;:223.2,&quot;left&quot;:32.4,&quot;top&quot;:158.4,&quot;width&quot;:662.4}"/>
</p:tagLst>
</file>

<file path=ppt/tags/tag24.xml><?xml version="1.0" encoding="utf-8"?>
<p:tagLst xmlns:p="http://schemas.openxmlformats.org/presentationml/2006/main">
  <p:tag name="KSO_WM_DIAGRAM_VIRTUALLY_FRAME" val="{&quot;height&quot;:223.2,&quot;left&quot;:32.4,&quot;top&quot;:158.4,&quot;width&quot;:662.4}"/>
</p:tagLst>
</file>

<file path=ppt/tags/tag25.xml><?xml version="1.0" encoding="utf-8"?>
<p:tagLst xmlns:p="http://schemas.openxmlformats.org/presentationml/2006/main">
  <p:tag name="KSO_WM_DIAGRAM_VIRTUALLY_FRAME" val="{&quot;height&quot;:223.2,&quot;left&quot;:32.4,&quot;top&quot;:158.4,&quot;width&quot;:662.4}"/>
</p:tagLst>
</file>

<file path=ppt/tags/tag26.xml><?xml version="1.0" encoding="utf-8"?>
<p:tagLst xmlns:p="http://schemas.openxmlformats.org/presentationml/2006/main">
  <p:tag name="KSO_WM_DIAGRAM_VIRTUALLY_FRAME" val="{&quot;height&quot;:223.2,&quot;left&quot;:32.4,&quot;top&quot;:158.4,&quot;width&quot;:662.4}"/>
</p:tagLst>
</file>

<file path=ppt/tags/tag27.xml><?xml version="1.0" encoding="utf-8"?>
<p:tagLst xmlns:p="http://schemas.openxmlformats.org/presentationml/2006/main">
  <p:tag name="KSO_WM_DIAGRAM_VIRTUALLY_FRAME" val="{&quot;height&quot;:223.2,&quot;left&quot;:32.4,&quot;top&quot;:158.4,&quot;width&quot;:662.4}"/>
</p:tagLst>
</file>

<file path=ppt/tags/tag28.xml><?xml version="1.0" encoding="utf-8"?>
<p:tagLst xmlns:p="http://schemas.openxmlformats.org/presentationml/2006/main">
  <p:tag name="KSO_WM_DIAGRAM_VIRTUALLY_FRAME" val="{&quot;height&quot;:273.6,&quot;left&quot;:32.4,&quot;top&quot;:104.4,&quot;width&quot;:655.2}"/>
</p:tagLst>
</file>

<file path=ppt/tags/tag29.xml><?xml version="1.0" encoding="utf-8"?>
<p:tagLst xmlns:p="http://schemas.openxmlformats.org/presentationml/2006/main">
  <p:tag name="KSO_WM_DIAGRAM_VIRTUALLY_FRAME" val="{&quot;height&quot;:273.6,&quot;left&quot;:32.4,&quot;top&quot;:104.4,&quot;width&quot;:655.2}"/>
</p:tagLst>
</file>

<file path=ppt/tags/tag30.xml><?xml version="1.0" encoding="utf-8"?>
<p:tagLst xmlns:p="http://schemas.openxmlformats.org/presentationml/2006/main">
  <p:tag name="KSO_WM_DIAGRAM_VIRTUALLY_FRAME" val="{&quot;height&quot;:273.6,&quot;left&quot;:32.4,&quot;top&quot;:104.4,&quot;width&quot;:655.2}"/>
</p:tagLst>
</file>

<file path=ppt/tags/tag31.xml><?xml version="1.0" encoding="utf-8"?>
<p:tagLst xmlns:p="http://schemas.openxmlformats.org/presentationml/2006/main">
  <p:tag name="KSO_WM_DIAGRAM_VIRTUALLY_FRAME" val="{&quot;height&quot;:273.6,&quot;left&quot;:32.4,&quot;top&quot;:104.4,&quot;width&quot;:655.2}"/>
</p:tagLst>
</file>

<file path=ppt/tags/tag32.xml><?xml version="1.0" encoding="utf-8"?>
<p:tagLst xmlns:p="http://schemas.openxmlformats.org/presentationml/2006/main">
  <p:tag name="KSO_WM_DIAGRAM_VIRTUALLY_FRAME" val="{&quot;height&quot;:273.6,&quot;left&quot;:32.4,&quot;top&quot;:104.4,&quot;width&quot;:655.2}"/>
</p:tagLst>
</file>

<file path=ppt/tags/tag33.xml><?xml version="1.0" encoding="utf-8"?>
<p:tagLst xmlns:p="http://schemas.openxmlformats.org/presentationml/2006/main">
  <p:tag name="KSO_WM_DIAGRAM_VIRTUALLY_FRAME" val="{&quot;height&quot;:273.6,&quot;left&quot;:32.4,&quot;top&quot;:104.4,&quot;width&quot;:655.2}"/>
</p:tagLst>
</file>

<file path=ppt/tags/tag34.xml><?xml version="1.0" encoding="utf-8"?>
<p:tagLst xmlns:p="http://schemas.openxmlformats.org/presentationml/2006/main">
  <p:tag name="KSO_WM_DIAGRAM_VIRTUALLY_FRAME" val="{&quot;height&quot;:273.6,&quot;left&quot;:32.4,&quot;top&quot;:104.4,&quot;width&quot;:655.2}"/>
</p:tagLst>
</file>

<file path=ppt/tags/tag35.xml><?xml version="1.0" encoding="utf-8"?>
<p:tagLst xmlns:p="http://schemas.openxmlformats.org/presentationml/2006/main">
  <p:tag name="KSO_WM_DIAGRAM_VIRTUALLY_FRAME" val="{&quot;height&quot;:273.6,&quot;left&quot;:32.4,&quot;top&quot;:104.4,&quot;width&quot;:655.2}"/>
</p:tagLst>
</file>

<file path=ppt/tags/tag36.xml><?xml version="1.0" encoding="utf-8"?>
<p:tagLst xmlns:p="http://schemas.openxmlformats.org/presentationml/2006/main">
  <p:tag name="KSO_WM_DIAGRAM_VIRTUALLY_FRAME" val="{&quot;height&quot;:273.6,&quot;left&quot;:32.4,&quot;top&quot;:104.4,&quot;width&quot;:655.2}"/>
</p:tagLst>
</file>

<file path=ppt/tags/tag37.xml><?xml version="1.0" encoding="utf-8"?>
<p:tagLst xmlns:p="http://schemas.openxmlformats.org/presentationml/2006/main">
  <p:tag name="KSO_WM_DIAGRAM_VIRTUALLY_FRAME" val="{&quot;height&quot;:273.6,&quot;left&quot;:32.4,&quot;top&quot;:104.4,&quot;width&quot;:655.2}"/>
</p:tagLst>
</file>

<file path=ppt/tags/tag38.xml><?xml version="1.0" encoding="utf-8"?>
<p:tagLst xmlns:p="http://schemas.openxmlformats.org/presentationml/2006/main">
  <p:tag name="KSO_WM_DIAGRAM_VIRTUALLY_FRAME" val="{&quot;height&quot;:273.6,&quot;left&quot;:32.4,&quot;top&quot;:104.4,&quot;width&quot;:655.2}"/>
</p:tagLst>
</file>

<file path=ppt/tags/tag39.xml><?xml version="1.0" encoding="utf-8"?>
<p:tagLst xmlns:p="http://schemas.openxmlformats.org/presentationml/2006/main">
  <p:tag name="KSO_WM_DIAGRAM_VIRTUALLY_FRAME" val="{&quot;height&quot;:273.6,&quot;left&quot;:32.4,&quot;top&quot;:104.4,&quot;width&quot;:655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6689</Words>
  <Application>WPS 演示</Application>
  <PresentationFormat>On-screen Show (16:9)</PresentationFormat>
  <Paragraphs>309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宋体</vt:lpstr>
      <vt:lpstr>Wingdings</vt:lpstr>
      <vt:lpstr>Calibri</vt:lpstr>
      <vt:lpstr>Calibri</vt:lpstr>
      <vt:lpstr>Calibri</vt:lpstr>
      <vt:lpstr>Courier New</vt:lpstr>
      <vt:lpstr>Courier New</vt:lpstr>
      <vt:lpstr>Courier New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Hedging</dc:title>
  <dc:creator>Zongyu Mu</dc:creator>
  <dc:subject>PptxGenJS Presentation</dc:subject>
  <cp:lastModifiedBy>牟宗禹</cp:lastModifiedBy>
  <cp:revision>18</cp:revision>
  <dcterms:created xsi:type="dcterms:W3CDTF">2026-04-01T22:09:00Z</dcterms:created>
  <dcterms:modified xsi:type="dcterms:W3CDTF">2026-04-12T19:09:05Z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21B2BF3AACE3494494B9754AA26EA2D9_12</vt:lpwstr>
  </property>
  <property fmtid="{D5CDD505-2E9C-101B-9397-08002B2CF9AE}" pid="3" name="KSOProductBuildVer">
    <vt:lpwstr>2052-12.1.0.25225</vt:lpwstr>
  </property>
</Properties>
</file>